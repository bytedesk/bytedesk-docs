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开场：欢迎参加微语客服系统培训。本次培训面向管理员和新客服，覆盖系统初始化配置与日常接待全流程，约 2-3 小时。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强调本次培训两个角色线索：管理员线（配置侧）与客服线（接待侧）。建议先问在场人员角色比例，调整侧重。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用一个典型场景串讲：客户在网页咨询 → 机器人先答 → 转人工 → 客服创建工单 → 处理完成 → 客户评价。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画三栏角色图。强调三端数据实时互通：管理员改配置立即影响客服端；客服处理的记录同步到统计。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演示：现场添加一个测试成员，展示角色下拉与可登录平台选项。提醒默认密码安全风险。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演示：创建一个「售后」工作组，把测试客服加进去，然后用浏览器无痕窗口模拟访客发消息，展示会话到达客服端。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强调三层知识体系：帮助中心文章（人读）、FAQ（精确匹配）、大模型知识库（语义检索）。演示转人工关键词设置。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 TicketBuilder 可视化流程编辑。重点讲工单状态机：NEW → PROCESSING → RESOLVED → VERIFIED/CLOSED。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让每位学员现场登录并切换一次状态。强调「小休」与「离线」的区别：小休消息仍会到达，离线完全不收。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演示完整接待：接收新会话 → 用快捷回复 → 查看客户资料 → 转接演示 → 结束并邀请评价。强调右侧面板的信息价值。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演示从刚才的会话创建工单并指派给另一位学员，两人协作完成处理。强调访客确认环节。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 AI 助手对一个复杂咨询生成回复建议。强调：AI 是辅助，客服需要审核后再发，避免错误承诺。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分组演练，讲师巡场。常见问题：路由不到（检查工作组客服在线状态）、工单无法确认（检查访客端登录态）。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预留 Q&amp;A 时间。每个问题先让学员猜原因，再讲解，加深印象。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总结后发放小测验（5 题）。预告进阶培训：质检配置、数据分析专题。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自由提问环节。收集未解决问题清单，会后书面跟进。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6583680" cy="6583680"/>
          </a:xfrm>
          <a:prstGeom prst="ellipse">
            <a:avLst/>
          </a:prstGeom>
          <a:solidFill>
            <a:srgbClr val="1677F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108960"/>
            <a:ext cx="4206240" cy="4206240"/>
          </a:xfrm>
          <a:prstGeom prst="ellipse">
            <a:avLst/>
          </a:prstGeom>
          <a:solidFill>
            <a:srgbClr val="13C2C2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754880"/>
            <a:ext cx="4023360" cy="4023360"/>
          </a:xfrm>
          <a:prstGeom prst="ellipse">
            <a:avLst/>
          </a:prstGeom>
          <a:solidFill>
            <a:srgbClr val="FA8C16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7724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677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777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89888" y="777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微语 Bytedesk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" y="2103120"/>
            <a:ext cx="1737360" cy="402336"/>
          </a:xfrm>
          <a:prstGeom prst="roundRect">
            <a:avLst>
              <a:gd name="adj" fmla="val 45455"/>
            </a:avLst>
          </a:prstGeom>
          <a:solidFill>
            <a:srgbClr val="1677FF">
              <a:alpha val="26000"/>
            </a:srgbClr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10312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C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内部培训资料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60604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微语客服系统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841248" y="3703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3C2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管理员与客服工作台培训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41248" y="4434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从系统配置到日常接待，一次讲透全流程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 v4.5.0   ·   2026-09-12   ·   微语 bytedesk.com   ·   docs.weiyuai.cn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566928"/>
          </a:xfrm>
          <a:prstGeom prst="roundRect">
            <a:avLst>
              <a:gd name="adj" fmla="val 42857"/>
            </a:avLst>
          </a:prstGeom>
          <a:solidFill>
            <a:srgbClr val="1677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4747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培训目标与议程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95528" y="896112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两条主线：管理员配置侧 + 客服接待侧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微语 Bytedesk · 客服系统培训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3526536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5875">
            <a:solidFill>
              <a:srgbClr val="E4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8096" y="1911096"/>
            <a:ext cx="475488" cy="475488"/>
          </a:xfrm>
          <a:prstGeom prst="ellipse">
            <a:avLst/>
          </a:prstGeom>
          <a:solidFill>
            <a:srgbClr val="1677FF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19110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89888" y="1929384"/>
            <a:ext cx="2520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认识微语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04672" y="2532888"/>
            <a:ext cx="301447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了解产品定位、核心模块与三端角色分工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31208" y="1691640"/>
            <a:ext cx="3526536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5875">
            <a:solidFill>
              <a:srgbClr val="E4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50664" y="1911096"/>
            <a:ext cx="475488" cy="475488"/>
          </a:xfrm>
          <a:prstGeom prst="ellipse">
            <a:avLst/>
          </a:prstGeom>
          <a:solidFill>
            <a:srgbClr val="1677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50664" y="19110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72456" y="1929384"/>
            <a:ext cx="2520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管理员配置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87240" y="2532888"/>
            <a:ext cx="301447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组织成员、客服路由、知识库、机器人、工单流程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13776" y="1691640"/>
            <a:ext cx="3526536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5875">
            <a:solidFill>
              <a:srgbClr val="E4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33232" y="1911096"/>
            <a:ext cx="475488" cy="475488"/>
          </a:xfrm>
          <a:prstGeom prst="ellipse">
            <a:avLst/>
          </a:prstGeom>
          <a:solidFill>
            <a:srgbClr val="1677FF"/>
          </a:solidFill>
          <a:ln/>
        </p:spPr>
      </p:sp>
      <p:sp>
        <p:nvSpPr>
          <p:cNvPr id="20" name="Text 18"/>
          <p:cNvSpPr/>
          <p:nvPr/>
        </p:nvSpPr>
        <p:spPr>
          <a:xfrm>
            <a:off x="8333232" y="19110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55024" y="1929384"/>
            <a:ext cx="2520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客服接待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369808" y="2532888"/>
            <a:ext cx="301447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登录上线、会话处理、转接协同、结束评价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913632"/>
            <a:ext cx="3526536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5875">
            <a:solidFill>
              <a:srgbClr val="E4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8096" y="4133088"/>
            <a:ext cx="475488" cy="475488"/>
          </a:xfrm>
          <a:prstGeom prst="ellipse">
            <a:avLst/>
          </a:prstGeom>
          <a:solidFill>
            <a:srgbClr val="1677FF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" y="41330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89888" y="4151376"/>
            <a:ext cx="2520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工单闭环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04672" y="4754880"/>
            <a:ext cx="301447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从会话创建工单，流转、解决、访客验证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31208" y="3913632"/>
            <a:ext cx="3526536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5875">
            <a:solidFill>
              <a:srgbClr val="E4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50664" y="4133088"/>
            <a:ext cx="475488" cy="475488"/>
          </a:xfrm>
          <a:prstGeom prst="ellipse">
            <a:avLst/>
          </a:prstGeom>
          <a:solidFill>
            <a:srgbClr val="1677FF"/>
          </a:solidFill>
          <a:ln/>
        </p:spPr>
      </p:sp>
      <p:sp>
        <p:nvSpPr>
          <p:cNvPr id="30" name="Text 28"/>
          <p:cNvSpPr/>
          <p:nvPr/>
        </p:nvSpPr>
        <p:spPr>
          <a:xfrm>
            <a:off x="4550664" y="41330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172456" y="4151376"/>
            <a:ext cx="2520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助手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587240" y="4754880"/>
            <a:ext cx="301447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回复建议、会话总结，人工确认后发送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113776" y="3913632"/>
            <a:ext cx="3526536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5875">
            <a:solidFill>
              <a:srgbClr val="E4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333232" y="4133088"/>
            <a:ext cx="475488" cy="475488"/>
          </a:xfrm>
          <a:prstGeom prst="ellipse">
            <a:avLst/>
          </a:prstGeom>
          <a:solidFill>
            <a:srgbClr val="1677FF"/>
          </a:solidFill>
          <a:ln/>
        </p:spPr>
      </p:sp>
      <p:sp>
        <p:nvSpPr>
          <p:cNvPr id="35" name="Text 33"/>
          <p:cNvSpPr/>
          <p:nvPr/>
        </p:nvSpPr>
        <p:spPr>
          <a:xfrm>
            <a:off x="8333232" y="41330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955024" y="4151376"/>
            <a:ext cx="2520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综合演练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8369808" y="4754880"/>
            <a:ext cx="301447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两人一组完成端到端闭环并验收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566928"/>
          </a:xfrm>
          <a:prstGeom prst="roundRect">
            <a:avLst>
              <a:gd name="adj" fmla="val 42857"/>
            </a:avLst>
          </a:prstGeom>
          <a:solidFill>
            <a:srgbClr val="13C2C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4747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微语是什么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95528" y="896112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驱动的全渠道智能客服平台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微语 Bytedesk · 客服系统培训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3526536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5875">
            <a:solidFill>
              <a:srgbClr val="E4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8096" y="1911096"/>
            <a:ext cx="475488" cy="475488"/>
          </a:xfrm>
          <a:prstGeom prst="ellipse">
            <a:avLst/>
          </a:prstGeom>
          <a:solidFill>
            <a:srgbClr val="13C2C2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19110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89888" y="1929384"/>
            <a:ext cx="2520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全渠道接入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04672" y="2532888"/>
            <a:ext cx="301447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网页、微信、邮件、API 等多渠道统一接待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31208" y="1691640"/>
            <a:ext cx="3526536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5875">
            <a:solidFill>
              <a:srgbClr val="E4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50664" y="1911096"/>
            <a:ext cx="475488" cy="475488"/>
          </a:xfrm>
          <a:prstGeom prst="ellipse">
            <a:avLst/>
          </a:prstGeom>
          <a:solidFill>
            <a:srgbClr val="13C2C2"/>
          </a:solidFill>
          <a:ln/>
        </p:spPr>
      </p:sp>
      <p:sp>
        <p:nvSpPr>
          <p:cNvPr id="15" name="Text 13"/>
          <p:cNvSpPr/>
          <p:nvPr/>
        </p:nvSpPr>
        <p:spPr>
          <a:xfrm>
            <a:off x="4550664" y="19110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72456" y="1929384"/>
            <a:ext cx="2520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智能机器人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87240" y="2532888"/>
            <a:ext cx="301447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基于大模型的自动问答与转人工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13776" y="1691640"/>
            <a:ext cx="3526536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5875">
            <a:solidFill>
              <a:srgbClr val="E4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33232" y="1911096"/>
            <a:ext cx="475488" cy="475488"/>
          </a:xfrm>
          <a:prstGeom prst="ellipse">
            <a:avLst/>
          </a:prstGeom>
          <a:solidFill>
            <a:srgbClr val="13C2C2"/>
          </a:solidFill>
          <a:ln/>
        </p:spPr>
      </p:sp>
      <p:sp>
        <p:nvSpPr>
          <p:cNvPr id="20" name="Text 18"/>
          <p:cNvSpPr/>
          <p:nvPr/>
        </p:nvSpPr>
        <p:spPr>
          <a:xfrm>
            <a:off x="8333232" y="19110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55024" y="1929384"/>
            <a:ext cx="2520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人工工作台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369808" y="2532888"/>
            <a:ext cx="301447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会话、客户资料、快捷回复、协同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913632"/>
            <a:ext cx="3526536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5875">
            <a:solidFill>
              <a:srgbClr val="E4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8096" y="4133088"/>
            <a:ext cx="475488" cy="475488"/>
          </a:xfrm>
          <a:prstGeom prst="ellipse">
            <a:avLst/>
          </a:prstGeom>
          <a:solidFill>
            <a:srgbClr val="13C2C2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" y="41330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89888" y="4151376"/>
            <a:ext cx="2520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工单系统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04672" y="4754880"/>
            <a:ext cx="301447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创建、流转、SLA、满意度闭环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31208" y="3913632"/>
            <a:ext cx="3526536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5875">
            <a:solidFill>
              <a:srgbClr val="E4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50664" y="4133088"/>
            <a:ext cx="475488" cy="475488"/>
          </a:xfrm>
          <a:prstGeom prst="ellipse">
            <a:avLst/>
          </a:prstGeom>
          <a:solidFill>
            <a:srgbClr val="13C2C2"/>
          </a:solidFill>
          <a:ln/>
        </p:spPr>
      </p:sp>
      <p:sp>
        <p:nvSpPr>
          <p:cNvPr id="30" name="Text 28"/>
          <p:cNvSpPr/>
          <p:nvPr/>
        </p:nvSpPr>
        <p:spPr>
          <a:xfrm>
            <a:off x="4550664" y="41330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172456" y="4151376"/>
            <a:ext cx="2520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587240" y="4754880"/>
            <a:ext cx="301447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文章、FAQ、大模型知识库三层体系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113776" y="3913632"/>
            <a:ext cx="3526536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5875">
            <a:solidFill>
              <a:srgbClr val="E4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333232" y="4133088"/>
            <a:ext cx="475488" cy="475488"/>
          </a:xfrm>
          <a:prstGeom prst="ellipse">
            <a:avLst/>
          </a:prstGeom>
          <a:solidFill>
            <a:srgbClr val="13C2C2"/>
          </a:solidFill>
          <a:ln/>
        </p:spPr>
      </p:sp>
      <p:sp>
        <p:nvSpPr>
          <p:cNvPr id="35" name="Text 33"/>
          <p:cNvSpPr/>
          <p:nvPr/>
        </p:nvSpPr>
        <p:spPr>
          <a:xfrm>
            <a:off x="8333232" y="41330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955024" y="4151376"/>
            <a:ext cx="2520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数据与质检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8369808" y="4754880"/>
            <a:ext cx="301447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会话统计、客服绩效、智能质检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566928"/>
          </a:xfrm>
          <a:prstGeom prst="roundRect">
            <a:avLst>
              <a:gd name="adj" fmla="val 42857"/>
            </a:avLst>
          </a:prstGeom>
          <a:solidFill>
            <a:srgbClr val="FA8C1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4747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系统组成与角色分工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95528" y="896112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三端协同，数据实时互通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微语 Bytedesk · 客服系统培训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3529584" cy="393192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5875">
            <a:solidFill>
              <a:srgbClr val="E4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828800"/>
            <a:ext cx="91440" cy="384048"/>
          </a:xfrm>
          <a:prstGeom prst="roundRect">
            <a:avLst>
              <a:gd name="adj" fmla="val 40000"/>
            </a:avLst>
          </a:prstGeom>
          <a:solidFill>
            <a:srgbClr val="1677FF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1783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 Admin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68096" y="23317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组织、成员、权限、渠道、知识库、AI、工单、统计</a:t>
            </a:r>
            <a:endParaRPr lang="en-US" sz="1150" dirty="0"/>
          </a:p>
        </p:txBody>
      </p:sp>
      <p:pic>
        <p:nvPicPr>
          <p:cNvPr id="12" name="Image 0" descr="/Users/ningjinpeng/Desktop/Git/Github/private/bytedesk-main/docs/static/img/manual/admin/welcome-new.png">    </p:cNvPr>
          <p:cNvPicPr>
            <a:picLocks noChangeAspect="1"/>
          </p:cNvPicPr>
          <p:nvPr/>
        </p:nvPicPr>
        <p:blipFill>
          <a:blip r:embed="rId1"/>
          <a:srcRect l="-19200" r="-19200" t="0" b="0"/>
          <a:stretch/>
        </p:blipFill>
        <p:spPr>
          <a:xfrm>
            <a:off x="731520" y="3108960"/>
            <a:ext cx="3163824" cy="2286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425696" y="1645920"/>
            <a:ext cx="3529584" cy="393192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5875">
            <a:solidFill>
              <a:srgbClr val="E4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08576" y="1828800"/>
            <a:ext cx="91440" cy="384048"/>
          </a:xfrm>
          <a:prstGeom prst="roundRect">
            <a:avLst>
              <a:gd name="adj" fmla="val 40000"/>
            </a:avLst>
          </a:prstGeom>
          <a:solidFill>
            <a:srgbClr val="13C2C2"/>
          </a:solidFill>
          <a:ln/>
        </p:spPr>
      </p:sp>
      <p:sp>
        <p:nvSpPr>
          <p:cNvPr id="15" name="Text 12"/>
          <p:cNvSpPr/>
          <p:nvPr/>
        </p:nvSpPr>
        <p:spPr>
          <a:xfrm>
            <a:off x="4809744" y="1783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C2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客服工作台 Desktop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4645152" y="23317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会话接待、工单处理、AI 助手辅助回复</a:t>
            </a:r>
            <a:endParaRPr lang="en-US" sz="1150" dirty="0"/>
          </a:p>
        </p:txBody>
      </p:sp>
      <p:pic>
        <p:nvPicPr>
          <p:cNvPr id="17" name="Image 1" descr="/Users/ningjinpeng/Desktop/Git/Github/private/bytedesk-main/docs/static/img/manual/agent/chat.png">    </p:cNvPr>
          <p:cNvPicPr>
            <a:picLocks noChangeAspect="1"/>
          </p:cNvPicPr>
          <p:nvPr/>
        </p:nvPicPr>
        <p:blipFill>
          <a:blip r:embed="rId2"/>
          <a:srcRect l="-19200" r="-19200" t="0" b="0"/>
          <a:stretch/>
        </p:blipFill>
        <p:spPr>
          <a:xfrm>
            <a:off x="4608576" y="3108960"/>
            <a:ext cx="3163824" cy="22860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302752" y="1645920"/>
            <a:ext cx="3529584" cy="3931920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5875">
            <a:solidFill>
              <a:srgbClr val="E4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85632" y="1828800"/>
            <a:ext cx="91440" cy="384048"/>
          </a:xfrm>
          <a:prstGeom prst="roundRect">
            <a:avLst>
              <a:gd name="adj" fmla="val 40000"/>
            </a:avLst>
          </a:prstGeom>
          <a:solidFill>
            <a:srgbClr val="FA8C16"/>
          </a:solidFill>
          <a:ln/>
        </p:spPr>
      </p:sp>
      <p:sp>
        <p:nvSpPr>
          <p:cNvPr id="20" name="Text 16"/>
          <p:cNvSpPr/>
          <p:nvPr/>
        </p:nvSpPr>
        <p:spPr>
          <a:xfrm>
            <a:off x="8686800" y="1783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A8C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访客端 Visitor</a:t>
            </a:r>
            <a:endParaRPr lang="en-US" sz="1550" dirty="0"/>
          </a:p>
        </p:txBody>
      </p:sp>
      <p:sp>
        <p:nvSpPr>
          <p:cNvPr id="21" name="Text 17"/>
          <p:cNvSpPr/>
          <p:nvPr/>
        </p:nvSpPr>
        <p:spPr>
          <a:xfrm>
            <a:off x="8522208" y="23317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客户发起咨询、提交工单、查看进度、评价</a:t>
            </a:r>
            <a:endParaRPr lang="en-US" sz="1150" dirty="0"/>
          </a:p>
        </p:txBody>
      </p:sp>
      <p:pic>
        <p:nvPicPr>
          <p:cNvPr id="22" name="Image 2" descr="/Users/ningjinpeng/Desktop/Git/Github/private/bytedesk-main/docs/static/img/manual/chat/gettting_started.png">    </p:cNvPr>
          <p:cNvPicPr>
            <a:picLocks noChangeAspect="1"/>
          </p:cNvPicPr>
          <p:nvPr/>
        </p:nvPicPr>
        <p:blipFill>
          <a:blip r:embed="rId3"/>
          <a:srcRect l="-19200" r="-19200" t="0" b="0"/>
          <a:stretch/>
        </p:blipFill>
        <p:spPr>
          <a:xfrm>
            <a:off x="8485632" y="3108960"/>
            <a:ext cx="3163824" cy="22860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8640" y="580644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管理员在 Admin 配置  →  客服在 Desktop 接待  →  客户通过 Visitor 使用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463040"/>
            <a:ext cx="4937760" cy="4937760"/>
          </a:xfrm>
          <a:prstGeom prst="ellipse">
            <a:avLst/>
          </a:prstGeom>
          <a:solidFill>
            <a:srgbClr val="1677FF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480560"/>
            <a:ext cx="3291840" cy="3291840"/>
          </a:xfrm>
          <a:prstGeom prst="ellipse">
            <a:avLst/>
          </a:prstGeom>
          <a:solidFill>
            <a:srgbClr val="13C2C2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83080"/>
            <a:ext cx="146304" cy="2377440"/>
          </a:xfrm>
          <a:prstGeom prst="roundRect">
            <a:avLst>
              <a:gd name="adj" fmla="val 43750"/>
            </a:avLst>
          </a:prstGeom>
          <a:solidFill>
            <a:srgbClr val="1677FF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783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16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07008" y="2331720"/>
            <a:ext cx="8686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管理员配置篇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234440" y="36118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C2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组织与成员   ·   客服与路由   ·   知识库与机器人   ·   工单流程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微语 Bytedesk · 客服系统培训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566928"/>
          </a:xfrm>
          <a:prstGeom prst="roundRect">
            <a:avLst>
              <a:gd name="adj" fmla="val 42857"/>
            </a:avLst>
          </a:prstGeom>
          <a:solidFill>
            <a:srgbClr val="1677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4747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 初始化：组织与成员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95528" y="896112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管理员的第一天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微语 Bytedesk · 客服系统培训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5760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0E4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 Admin → 工作台首页确认组织信息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组织管理 → 成员：逐个添加或 Excel 批量导入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为成员分配角色：超级管理员 / 管理员 / 普通成员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设置成员可登录平台（Admin / Desktop / both）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A8C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建议：正式使用前修改默认密码并绑定邮箱手机号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通知：配置邮件 / 短信通道，用于验证码与通知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37960" y="169164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5875">
            <a:solidFill>
              <a:srgbClr val="E4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4000"/>
              </a:srgbClr>
            </a:outerShdw>
          </a:effectLst>
        </p:spPr>
      </p:sp>
      <p:pic>
        <p:nvPicPr>
          <p:cNvPr id="10" name="Image 0" descr="/Users/ningjinpeng/Desktop/Git/Github/private/bytedesk-main/docs/static/img/manual/admin/team/member-new.png">    </p:cNvPr>
          <p:cNvPicPr>
            <a:picLocks noChangeAspect="1"/>
          </p:cNvPicPr>
          <p:nvPr/>
        </p:nvPicPr>
        <p:blipFill>
          <a:blip r:embed="rId1"/>
          <a:srcRect l="-18066" r="-18066" t="0" b="0"/>
          <a:stretch/>
        </p:blipFill>
        <p:spPr>
          <a:xfrm>
            <a:off x="6675120" y="1828800"/>
            <a:ext cx="4892040" cy="35935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675120" y="5449824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 · 成员管理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566928"/>
          </a:xfrm>
          <a:prstGeom prst="roundRect">
            <a:avLst>
              <a:gd name="adj" fmla="val 42857"/>
            </a:avLst>
          </a:prstGeom>
          <a:solidFill>
            <a:srgbClr val="1677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4747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 初始化：客服与路由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95528" y="896112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让客户找到正确的客服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微语 Bytedesk · 客服系统培训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5760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0E4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在线客服 → 客服：创建客服账号并关联成员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在线客服 → 工作组：按业务线建立接待组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在线客服 → 统一路由：配置分配策略（轮询 / 技能）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在线客服 → 渠道：接入网页聊天、微信公众号等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在线客服 → 队列：查看排队与客服实时状态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A8C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验证：用访客端发起会话，确认路由到正确工作组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37960" y="169164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5875">
            <a:solidFill>
              <a:srgbClr val="E4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4000"/>
              </a:srgbClr>
            </a:outerShdw>
          </a:effectLst>
        </p:spPr>
      </p:sp>
      <p:pic>
        <p:nvPicPr>
          <p:cNvPr id="10" name="Image 0" descr="/Users/ningjinpeng/Desktop/Git/Github/private/bytedesk-main/docs/static/img/manual/admin/service/agent-new.png">    </p:cNvPr>
          <p:cNvPicPr>
            <a:picLocks noChangeAspect="1"/>
          </p:cNvPicPr>
          <p:nvPr/>
        </p:nvPicPr>
        <p:blipFill>
          <a:blip r:embed="rId1"/>
          <a:srcRect l="-18066" r="-18066" t="0" b="0"/>
          <a:stretch/>
        </p:blipFill>
        <p:spPr>
          <a:xfrm>
            <a:off x="6675120" y="1828800"/>
            <a:ext cx="4892040" cy="35935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675120" y="5449824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 · 客服管理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566928"/>
          </a:xfrm>
          <a:prstGeom prst="roundRect">
            <a:avLst>
              <a:gd name="adj" fmla="val 42857"/>
            </a:avLst>
          </a:prstGeom>
          <a:solidFill>
            <a:srgbClr val="1677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4747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 配置：知识库与机器人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95528" y="896112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让机器人先回答 80% 的常见问题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微语 Bytedesk · 客服系统培训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5760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0E4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 → 文章：整理帮助中心文档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 → 常见问题：维护 FAQ 问答对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智能助手 → 大模型：配置模型与 API Key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智能助手 → 机器人：绑定知识库 + 设置提示词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智能助手 → 工具 / MCP / 技能：按需扩展机器人能力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A8C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测试：验证回答质量与转人工关键词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37960" y="169164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5875">
            <a:solidFill>
              <a:srgbClr val="E4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4000"/>
              </a:srgbClr>
            </a:outerShdw>
          </a:effectLst>
        </p:spPr>
      </p:sp>
      <p:pic>
        <p:nvPicPr>
          <p:cNvPr id="10" name="Image 0" descr="/Users/ningjinpeng/Desktop/Git/Github/private/bytedesk-main/docs/static/img/manual/admin/ai/robot-new.png">    </p:cNvPr>
          <p:cNvPicPr>
            <a:picLocks noChangeAspect="1"/>
          </p:cNvPicPr>
          <p:nvPr/>
        </p:nvPicPr>
        <p:blipFill>
          <a:blip r:embed="rId1"/>
          <a:srcRect l="-18066" r="-18066" t="0" b="0"/>
          <a:stretch/>
        </p:blipFill>
        <p:spPr>
          <a:xfrm>
            <a:off x="6675120" y="1828800"/>
            <a:ext cx="4892040" cy="35935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675120" y="5449824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 · 机器人管理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566928"/>
          </a:xfrm>
          <a:prstGeom prst="roundRect">
            <a:avLst>
              <a:gd name="adj" fmla="val 42857"/>
            </a:avLst>
          </a:prstGeom>
          <a:solidFill>
            <a:srgbClr val="1677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4747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 配置：工单流程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95528" y="896112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从会话到闭环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微语 Bytedesk · 客服系统培训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5760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0E4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工单管理 → 工单：查看全部工单与状态流转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工单管理 → 流程：可视化编辑器编排处理流程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工单设置：分类、优先级、SLA 时限、自动分配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外部工单：访客无需登录即可提交并跟踪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内部工单：成员间协同处理，支持部门流转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A8C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验证：走完 新建 → 处理 → 解决 → 验证 闭环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37960" y="169164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5875">
            <a:solidFill>
              <a:srgbClr val="E4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4000"/>
              </a:srgbClr>
            </a:outerShdw>
          </a:effectLst>
        </p:spPr>
      </p:sp>
      <p:pic>
        <p:nvPicPr>
          <p:cNvPr id="10" name="Image 0" descr="/Users/ningjinpeng/Desktop/Git/Github/private/bytedesk-main/docs/static/img/manual/admin/ticket/data.png">    </p:cNvPr>
          <p:cNvPicPr>
            <a:picLocks noChangeAspect="1"/>
          </p:cNvPicPr>
          <p:nvPr/>
        </p:nvPicPr>
        <p:blipFill>
          <a:blip r:embed="rId1"/>
          <a:srcRect l="-18066" r="-18066" t="0" b="0"/>
          <a:stretch/>
        </p:blipFill>
        <p:spPr>
          <a:xfrm>
            <a:off x="6675120" y="1828800"/>
            <a:ext cx="4892040" cy="35935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675120" y="5449824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 · 工单数据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463040"/>
            <a:ext cx="4937760" cy="4937760"/>
          </a:xfrm>
          <a:prstGeom prst="ellipse">
            <a:avLst/>
          </a:prstGeom>
          <a:solidFill>
            <a:srgbClr val="13C2C2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480560"/>
            <a:ext cx="3291840" cy="3291840"/>
          </a:xfrm>
          <a:prstGeom prst="ellipse">
            <a:avLst/>
          </a:prstGeom>
          <a:solidFill>
            <a:srgbClr val="13C2C2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83080"/>
            <a:ext cx="146304" cy="2377440"/>
          </a:xfrm>
          <a:prstGeom prst="roundRect">
            <a:avLst>
              <a:gd name="adj" fmla="val 43750"/>
            </a:avLst>
          </a:prstGeom>
          <a:solidFill>
            <a:srgbClr val="13C2C2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783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13C2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07008" y="2331720"/>
            <a:ext cx="8686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客服工作篇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234440" y="36118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C2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登录与状态   ·   会话接待   ·   工单处理   ·   AI 助手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微语 Bytedesk · 客服系统培训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566928"/>
          </a:xfrm>
          <a:prstGeom prst="roundRect">
            <a:avLst>
              <a:gd name="adj" fmla="val 42857"/>
            </a:avLst>
          </a:prstGeom>
          <a:solidFill>
            <a:srgbClr val="13C2C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4747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客服工作台：登录与接待状态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95528" y="896112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客服的一天从上线开始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微语 Bytedesk · 客服系统培训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5760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0E4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 Desktop → 默认进入聊天工作台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左下角头像 → 切换接待状态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在线：正常接收新会话分配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小休 / 忙碌：暂不分配新访客（可选原因：会议 / 培训）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离线：不接收任何会话与消息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A8C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注意：有进行中会话时退出会弹确认提示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37960" y="169164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5875">
            <a:solidFill>
              <a:srgbClr val="E4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4000"/>
              </a:srgbClr>
            </a:outerShdw>
          </a:effectLst>
        </p:spPr>
      </p:sp>
      <p:pic>
        <p:nvPicPr>
          <p:cNvPr id="10" name="Image 0" descr="/Users/ningjinpeng/Desktop/Git/Github/private/bytedesk-main/docs/static/img/manual/agent/status.png">    </p:cNvPr>
          <p:cNvPicPr>
            <a:picLocks noChangeAspect="1"/>
          </p:cNvPicPr>
          <p:nvPr/>
        </p:nvPicPr>
        <p:blipFill>
          <a:blip r:embed="rId1"/>
          <a:srcRect l="-18066" r="-18066" t="0" b="0"/>
          <a:stretch/>
        </p:blipFill>
        <p:spPr>
          <a:xfrm>
            <a:off x="6675120" y="1828800"/>
            <a:ext cx="4892040" cy="35935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675120" y="5449824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客服工作台 · 接待状态切换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566928"/>
          </a:xfrm>
          <a:prstGeom prst="roundRect">
            <a:avLst>
              <a:gd name="adj" fmla="val 42857"/>
            </a:avLst>
          </a:prstGeom>
          <a:solidFill>
            <a:srgbClr val="13C2C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4747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客服工作台：会话接待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95528" y="896112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四栏布局高效处理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微语 Bytedesk · 客服系统培训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5760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0E4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左侧：会话分类（全部 / 进行中 / 待处理 / 已结束）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中部：会话列表（访客昵称、最后消息、未读数）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对话窗口：文字、图片、文件、表情、快捷回复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右侧面板：客户资料、历史会话、标签备注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转接：把会话转给其他客服或工作组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A8C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结束会话：可邀请客户评价满意度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37960" y="169164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5875">
            <a:solidFill>
              <a:srgbClr val="E4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4000"/>
              </a:srgbClr>
            </a:outerShdw>
          </a:effectLst>
        </p:spPr>
      </p:sp>
      <p:pic>
        <p:nvPicPr>
          <p:cNvPr id="10" name="Image 0" descr="/Users/ningjinpeng/Desktop/Git/Github/private/bytedesk-main/docs/static/img/manual/agent/chat-wide.png">    </p:cNvPr>
          <p:cNvPicPr>
            <a:picLocks noChangeAspect="1"/>
          </p:cNvPicPr>
          <p:nvPr/>
        </p:nvPicPr>
        <p:blipFill>
          <a:blip r:embed="rId1"/>
          <a:srcRect l="-18066" r="-18066" t="0" b="0"/>
          <a:stretch/>
        </p:blipFill>
        <p:spPr>
          <a:xfrm>
            <a:off x="6675120" y="1828800"/>
            <a:ext cx="4892040" cy="35935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675120" y="5449824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客服工作台 · 四栏布局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566928"/>
          </a:xfrm>
          <a:prstGeom prst="roundRect">
            <a:avLst>
              <a:gd name="adj" fmla="val 42857"/>
            </a:avLst>
          </a:prstGeom>
          <a:solidFill>
            <a:srgbClr val="13C2C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4747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客服工作台：工单处理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95528" y="896112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会话解决不了就建工单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微语 Bytedesk · 客服系统培训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5760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0E4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从会话创建工单：自动关联访客与会话记录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工单列表：按状态、优先级、处理人筛选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处理动作：认领、指派、转派、备注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解决后：访客确认（已解决 / 未解决）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处理流程时间线：每一步操作留痕可追溯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A8C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工单消息：状态变化自动同步到关联会话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37960" y="169164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5875">
            <a:solidFill>
              <a:srgbClr val="E4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4000"/>
              </a:srgbClr>
            </a:outerShdw>
          </a:effectLst>
        </p:spPr>
      </p:sp>
      <p:pic>
        <p:nvPicPr>
          <p:cNvPr id="10" name="Image 0" descr="/Users/ningjinpeng/Desktop/Git/Github/private/bytedesk-main/docs/static/img/manual/agent/ticket-detail.png">    </p:cNvPr>
          <p:cNvPicPr>
            <a:picLocks noChangeAspect="1"/>
          </p:cNvPicPr>
          <p:nvPr/>
        </p:nvPicPr>
        <p:blipFill>
          <a:blip r:embed="rId1"/>
          <a:srcRect l="-18066" r="-18066" t="0" b="0"/>
          <a:stretch/>
        </p:blipFill>
        <p:spPr>
          <a:xfrm>
            <a:off x="6675120" y="1828800"/>
            <a:ext cx="4892040" cy="35935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675120" y="5449824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客服工作台 · 工单详情与认领指派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566928"/>
          </a:xfrm>
          <a:prstGeom prst="roundRect">
            <a:avLst>
              <a:gd name="adj" fmla="val 42857"/>
            </a:avLst>
          </a:prstGeom>
          <a:solidFill>
            <a:srgbClr val="13C2C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4747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客服工作台：AI 客服助手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95528" y="896112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让人工如虎添翼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微语 Bytedesk · 客服系统培训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5760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0E4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回复建议：根据上下文生成推荐回复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会话总结：一键总结长会话要点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下一步建议：系统提示可能的处理动作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知识库检索：直接搜索知识库回答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A8C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使用建议：AI 建议需人工确认后发送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37960" y="169164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5875">
            <a:solidFill>
              <a:srgbClr val="E4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4000"/>
              </a:srgbClr>
            </a:outerShdw>
          </a:effectLst>
        </p:spPr>
      </p:sp>
      <p:pic>
        <p:nvPicPr>
          <p:cNvPr id="10" name="Image 0" descr="/Users/ningjinpeng/Desktop/Git/Github/private/bytedesk-main/docs/static/img/manual/agent/agent_assistant.png">    </p:cNvPr>
          <p:cNvPicPr>
            <a:picLocks noChangeAspect="1"/>
          </p:cNvPicPr>
          <p:nvPr/>
        </p:nvPicPr>
        <p:blipFill>
          <a:blip r:embed="rId1"/>
          <a:srcRect l="-18066" r="-18066" t="0" b="0"/>
          <a:stretch/>
        </p:blipFill>
        <p:spPr>
          <a:xfrm>
            <a:off x="6675120" y="1828800"/>
            <a:ext cx="4892040" cy="35935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675120" y="5449824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客服工作台 · AI 客服助手面板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463040"/>
            <a:ext cx="4937760" cy="4937760"/>
          </a:xfrm>
          <a:prstGeom prst="ellipse">
            <a:avLst/>
          </a:prstGeom>
          <a:solidFill>
            <a:srgbClr val="FA8C16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480560"/>
            <a:ext cx="3291840" cy="3291840"/>
          </a:xfrm>
          <a:prstGeom prst="ellipse">
            <a:avLst/>
          </a:prstGeom>
          <a:solidFill>
            <a:srgbClr val="13C2C2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83080"/>
            <a:ext cx="146304" cy="2377440"/>
          </a:xfrm>
          <a:prstGeom prst="roundRect">
            <a:avLst>
              <a:gd name="adj" fmla="val 43750"/>
            </a:avLst>
          </a:prstGeom>
          <a:solidFill>
            <a:srgbClr val="FA8C16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783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A8C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07008" y="2331720"/>
            <a:ext cx="8686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实战与答疑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234440" y="36118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C2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综合演练   ·   常见问题   ·   培训总结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微语 Bytedesk · 客服系统培训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566928"/>
          </a:xfrm>
          <a:prstGeom prst="roundRect">
            <a:avLst>
              <a:gd name="adj" fmla="val 42857"/>
            </a:avLst>
          </a:prstGeom>
          <a:solidFill>
            <a:srgbClr val="FA8C1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4747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综合演练：端到端闭环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95528" y="896112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两人一组 · 15 分钟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微语 Bytedesk · 客服系统培训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25346" y="2157984"/>
            <a:ext cx="8938260" cy="0"/>
          </a:xfrm>
          <a:prstGeom prst="line">
            <a:avLst/>
          </a:prstGeom>
          <a:noFill/>
          <a:ln w="31750">
            <a:solidFill>
              <a:srgbClr val="E4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87602" y="1920240"/>
            <a:ext cx="475488" cy="475488"/>
          </a:xfrm>
          <a:prstGeom prst="ellipse">
            <a:avLst/>
          </a:prstGeom>
          <a:solidFill>
            <a:srgbClr val="FA8C16"/>
          </a:solidFill>
          <a:ln w="25400">
            <a:solidFill>
              <a:srgbClr val="FA8C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87602" y="19202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523744"/>
            <a:ext cx="16047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客户发起咨询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175254" y="1920240"/>
            <a:ext cx="475488" cy="4754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A8C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75254" y="19202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8C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10612" y="2523744"/>
            <a:ext cx="16047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机器人自动回复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962906" y="1920240"/>
            <a:ext cx="475488" cy="4754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A8C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2906" y="19202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8C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98264" y="2523744"/>
            <a:ext cx="16047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转人工路由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50558" y="1920240"/>
            <a:ext cx="475488" cy="4754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A8C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0558" y="19202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8C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85916" y="2523744"/>
            <a:ext cx="16047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客服接待建单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538210" y="1920240"/>
            <a:ext cx="475488" cy="4754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A8C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38210" y="19202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8C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73568" y="2523744"/>
            <a:ext cx="16047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处理并标记解决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0325862" y="1920240"/>
            <a:ext cx="475488" cy="475488"/>
          </a:xfrm>
          <a:prstGeom prst="ellipse">
            <a:avLst/>
          </a:prstGeom>
          <a:solidFill>
            <a:srgbClr val="FA8C16"/>
          </a:solidFill>
          <a:ln w="25400">
            <a:solidFill>
              <a:srgbClr val="FA8C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25862" y="19202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761220" y="2523744"/>
            <a:ext cx="16047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客户验证评价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3657600"/>
            <a:ext cx="352958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E4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3858768"/>
            <a:ext cx="91440" cy="329184"/>
          </a:xfrm>
          <a:prstGeom prst="roundRect">
            <a:avLst>
              <a:gd name="adj" fmla="val 40000"/>
            </a:avLst>
          </a:prstGeom>
          <a:solidFill>
            <a:srgbClr val="1677FF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3803904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 A · 管理员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68096" y="42976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创建测试工作组并配置机器人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425696" y="3657600"/>
            <a:ext cx="352958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E4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08576" y="3858768"/>
            <a:ext cx="91440" cy="329184"/>
          </a:xfrm>
          <a:prstGeom prst="roundRect">
            <a:avLst>
              <a:gd name="adj" fmla="val 40000"/>
            </a:avLst>
          </a:prstGeom>
          <a:solidFill>
            <a:srgbClr val="13C2C2"/>
          </a:solidFill>
          <a:ln/>
        </p:spPr>
      </p:sp>
      <p:sp>
        <p:nvSpPr>
          <p:cNvPr id="33" name="Text 31"/>
          <p:cNvSpPr/>
          <p:nvPr/>
        </p:nvSpPr>
        <p:spPr>
          <a:xfrm>
            <a:off x="4791456" y="3803904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C2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 B · 客服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645152" y="42976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 Desktop 并切换为在线，接待并建单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302752" y="3657600"/>
            <a:ext cx="352958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5875">
            <a:solidFill>
              <a:srgbClr val="E4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85632" y="3858768"/>
            <a:ext cx="91440" cy="329184"/>
          </a:xfrm>
          <a:prstGeom prst="roundRect">
            <a:avLst>
              <a:gd name="adj" fmla="val 40000"/>
            </a:avLst>
          </a:prstGeom>
          <a:solidFill>
            <a:srgbClr val="FA8C16"/>
          </a:solidFill>
          <a:ln/>
        </p:spPr>
      </p:sp>
      <p:sp>
        <p:nvSpPr>
          <p:cNvPr id="37" name="Text 35"/>
          <p:cNvSpPr/>
          <p:nvPr/>
        </p:nvSpPr>
        <p:spPr>
          <a:xfrm>
            <a:off x="8668512" y="3803904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A8C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 C · 客户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522208" y="42976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从访客端发起咨询，最终确认并评价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5349240"/>
            <a:ext cx="11091672" cy="685800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53492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8C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验收标准：全流程无报错 · 工单状态最终为「已验证」 · 评价可在统计中查到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566928"/>
          </a:xfrm>
          <a:prstGeom prst="roundRect">
            <a:avLst>
              <a:gd name="adj" fmla="val 42857"/>
            </a:avLst>
          </a:prstGeom>
          <a:solidFill>
            <a:srgbClr val="FA8C1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4747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常见问题与排查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95528" y="896112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培训现场高频提问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35024"/>
            <a:ext cx="11183112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微语 Bytedesk · 客服系统培训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543153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929384"/>
            <a:ext cx="420624" cy="420624"/>
          </a:xfrm>
          <a:prstGeom prst="ellipse">
            <a:avLst/>
          </a:prstGeom>
          <a:solidFill>
            <a:srgbClr val="FA8C1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9293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16736" y="1874520"/>
            <a:ext cx="4471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登录提示无权限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316736" y="2404872"/>
            <a:ext cx="4471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账号未分配客服角色，联系管理员在后台配置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08776" y="1691640"/>
            <a:ext cx="543153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9944" y="1929384"/>
            <a:ext cx="420624" cy="420624"/>
          </a:xfrm>
          <a:prstGeom prst="ellipse">
            <a:avLst/>
          </a:prstGeom>
          <a:solidFill>
            <a:srgbClr val="FA8C1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9944" y="19293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76872" y="1874520"/>
            <a:ext cx="4471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收不到新会话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976872" y="2404872"/>
            <a:ext cx="4471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检查接待状态是否在线、工作组路由是否包含该客服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291840"/>
            <a:ext cx="543153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3529584"/>
            <a:ext cx="420624" cy="420624"/>
          </a:xfrm>
          <a:prstGeom prst="ellipse">
            <a:avLst/>
          </a:prstGeom>
          <a:solidFill>
            <a:srgbClr val="FA8C16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35295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16736" y="3474720"/>
            <a:ext cx="4471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机器人不回答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316736" y="4005072"/>
            <a:ext cx="4471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检查知识库内容与模型配置，确认 API Key 有效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08776" y="3291840"/>
            <a:ext cx="543153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9944" y="3529584"/>
            <a:ext cx="420624" cy="420624"/>
          </a:xfrm>
          <a:prstGeom prst="ellipse">
            <a:avLst/>
          </a:prstGeom>
          <a:solidFill>
            <a:srgbClr val="FA8C16"/>
          </a:solidFill>
          <a:ln/>
        </p:spPr>
      </p:sp>
      <p:sp>
        <p:nvSpPr>
          <p:cNvPr id="25" name="Text 23"/>
          <p:cNvSpPr/>
          <p:nvPr/>
        </p:nvSpPr>
        <p:spPr>
          <a:xfrm>
            <a:off x="6409944" y="35295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76872" y="3474720"/>
            <a:ext cx="4471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工单无法确认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976872" y="4005072"/>
            <a:ext cx="4471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检查是否为外部工单且访客已登录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892040"/>
            <a:ext cx="543153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" y="5129784"/>
            <a:ext cx="420624" cy="420624"/>
          </a:xfrm>
          <a:prstGeom prst="ellipse">
            <a:avLst/>
          </a:prstGeom>
          <a:solidFill>
            <a:srgbClr val="FA8C16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51297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316736" y="5074920"/>
            <a:ext cx="4471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语音无声音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316736" y="5605272"/>
            <a:ext cx="4471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检查浏览器麦克风权限与设备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08776" y="4892040"/>
            <a:ext cx="543153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9944" y="5129784"/>
            <a:ext cx="420624" cy="420624"/>
          </a:xfrm>
          <a:prstGeom prst="ellipse">
            <a:avLst/>
          </a:prstGeom>
          <a:solidFill>
            <a:srgbClr val="FA8C16"/>
          </a:solidFill>
          <a:ln/>
        </p:spPr>
      </p:sp>
      <p:sp>
        <p:nvSpPr>
          <p:cNvPr id="35" name="Text 33"/>
          <p:cNvSpPr/>
          <p:nvPr/>
        </p:nvSpPr>
        <p:spPr>
          <a:xfrm>
            <a:off x="6409944" y="51297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976872" y="5074920"/>
            <a:ext cx="44714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更多问题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976872" y="5605272"/>
            <a:ext cx="4471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查阅 docs.weiyuai.cn 文档中心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120640" cy="5120640"/>
          </a:xfrm>
          <a:prstGeom prst="ellipse">
            <a:avLst/>
          </a:prstGeom>
          <a:solidFill>
            <a:srgbClr val="1677F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13C2C2">
              <a:alpha val="13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培训总结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1248" y="1600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记住这三条主线，就能独立上手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3401568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6000"/>
            </a:srgbClr>
          </a:solidFill>
          <a:ln w="15875">
            <a:solidFill>
              <a:srgbClr val="1677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651760"/>
            <a:ext cx="109728" cy="457200"/>
          </a:xfrm>
          <a:prstGeom prst="roundRect">
            <a:avLst>
              <a:gd name="adj" fmla="val 41667"/>
            </a:avLst>
          </a:prstGeom>
          <a:solidFill>
            <a:srgbClr val="1677FF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2606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7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管理员线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78992" y="329184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C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 → 客服 → 渠道 → 知识库 → 工单 → 统计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0560" y="2377440"/>
            <a:ext cx="3401568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6000"/>
            </a:srgbClr>
          </a:solidFill>
          <a:ln w="15875">
            <a:solidFill>
              <a:srgbClr val="13C2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2651760"/>
            <a:ext cx="109728" cy="457200"/>
          </a:xfrm>
          <a:prstGeom prst="roundRect">
            <a:avLst>
              <a:gd name="adj" fmla="val 41667"/>
            </a:avLst>
          </a:prstGeom>
          <a:solidFill>
            <a:srgbClr val="13C2C2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606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C2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客服线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36592" y="329184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C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 → 接待 → 协同 → 工单 → AI 辅助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377440"/>
            <a:ext cx="3401568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6000"/>
            </a:srgbClr>
          </a:solidFill>
          <a:ln w="15875">
            <a:solidFill>
              <a:srgbClr val="FA8C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2651760"/>
            <a:ext cx="109728" cy="457200"/>
          </a:xfrm>
          <a:prstGeom prst="roundRect">
            <a:avLst>
              <a:gd name="adj" fmla="val 41667"/>
            </a:avLst>
          </a:prstGeom>
          <a:solidFill>
            <a:srgbClr val="FA8C16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2606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8C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业务闭环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94192" y="329184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C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 → 机器人/人工 → 工单 → 验证 → 评价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57607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感谢参与  ·  微语 bytedesk.com  ·  docs.weiyuai.cn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微语 Bytedesk · 客服系统培训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0" y="1051560"/>
            <a:ext cx="3200400" cy="3200400"/>
          </a:xfrm>
          <a:prstGeom prst="ellipse">
            <a:avLst/>
          </a:prstGeom>
          <a:solidFill>
            <a:srgbClr val="1677FF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3566160"/>
            <a:ext cx="2651760" cy="2651760"/>
          </a:xfrm>
          <a:prstGeom prst="ellipse">
            <a:avLst/>
          </a:prstGeom>
          <a:solidFill>
            <a:srgbClr val="13C2C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920240" y="3931920"/>
            <a:ext cx="2194560" cy="2194560"/>
          </a:xfrm>
          <a:prstGeom prst="ellipse">
            <a:avLst/>
          </a:prstGeom>
          <a:solidFill>
            <a:srgbClr val="FA8C16">
              <a:alpha val="13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210312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6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554480" y="34290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3C2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现在开始提问，或随时联系我们的实施团队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58064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微语 bytedesk.com   ·   docs.weiyuai.cn   ·   微信交流群见官网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微语 Bytedesk · 客服系统培训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微语 bytedesk.com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微语客服系统培训课件</dc:title>
  <dc:subject>PptxGenJS Presentation</dc:subject>
  <dc:creator>bytedesk</dc:creator>
  <cp:lastModifiedBy>bytedesk</cp:lastModifiedBy>
  <cp:revision>1</cp:revision>
  <dcterms:created xsi:type="dcterms:W3CDTF">2026-09-12T03:24:44Z</dcterms:created>
  <dcterms:modified xsi:type="dcterms:W3CDTF">2026-09-12T03:24:44Z</dcterms:modified>
</cp:coreProperties>
</file>